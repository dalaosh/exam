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0"/>
            <a:ext cx="4602175" cy="6858000"/>
          </a:xfrm>
          <a:prstGeom prst="rect">
            <a:avLst/>
          </a:prstGeom>
          <a:solidFill>
            <a:srgbClr val="17B7A3">
              <a:alpha val="18000"/>
            </a:srgbClr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502920"/>
            <a:ext cx="3200400" cy="5852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B54A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基于国密算法与人脸认证的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考试系统答辩模板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5968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7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可直接替换标题、院校、成员、日期和系统截图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3794760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17304B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40690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项目名称：基于国密算法与人脸认证的考试系统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4443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汇报人：XXX    指导教师：XXX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47731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 / 团队：XXX    日期：2026.XX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0" y="5029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366760" y="56692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7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F7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9184" y="448056"/>
            <a:ext cx="432511" cy="6409944"/>
          </a:xfrm>
          <a:prstGeom prst="rect">
            <a:avLst/>
          </a:prstGeom>
          <a:solidFill>
            <a:srgbClr val="E8F2F8">
              <a:alpha val="65000"/>
            </a:srgbClr>
          </a:solidFill>
          <a:ln w="12700">
            <a:solidFill>
              <a:srgbClr val="E8F2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05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Examination System Defense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/ Contents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保持这一页固定，用于建立整套答辩的章节节奏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783080"/>
            <a:ext cx="46177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9264" y="1956816"/>
            <a:ext cx="841248" cy="621792"/>
          </a:xfrm>
          <a:prstGeom prst="roundRect">
            <a:avLst>
              <a:gd name="adj" fmla="val 8824"/>
            </a:avLst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121408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93392" y="19933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286000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项目定位、目标用户、应用场景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81344" y="1783080"/>
            <a:ext cx="46177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64224" y="1956816"/>
            <a:ext cx="841248" cy="621792"/>
          </a:xfrm>
          <a:prstGeom prst="roundRect">
            <a:avLst>
              <a:gd name="adj" fmla="val 8824"/>
            </a:avLst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2121408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88352" y="19933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0" y="2286000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行业痛点、建设必要性、问题定义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86384" y="3118104"/>
            <a:ext cx="46177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9264" y="329184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3456432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93392" y="33284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11680" y="3621024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系统架构、关键技术、实现流程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81344" y="3118104"/>
            <a:ext cx="46177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64224" y="329184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3456432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88352" y="33284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主要功能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06640" y="3621024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多角色业务模块与核心页面演示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86384" y="4453128"/>
            <a:ext cx="46177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69264" y="4626864"/>
            <a:ext cx="841248" cy="621792"/>
          </a:xfrm>
          <a:prstGeom prst="roundRect">
            <a:avLst>
              <a:gd name="adj" fmla="val 8824"/>
            </a:avLst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" y="4791456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993392" y="4663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创新特色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11680" y="49560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国密安全、人脸认证、微服务设计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81344" y="4453128"/>
            <a:ext cx="46177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64224" y="4626864"/>
            <a:ext cx="841248" cy="621792"/>
          </a:xfrm>
          <a:prstGeom prst="roundRect">
            <a:avLst>
              <a:gd name="adj" fmla="val 8824"/>
            </a:avLst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4791456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88352" y="4663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06640" y="49560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部署效果、应用价值、后续计划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8640" y="6455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项目答辩模板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0"/>
            <a:ext cx="8259775" cy="6858000"/>
          </a:xfrm>
          <a:prstGeom prst="rect">
            <a:avLst/>
          </a:prstGeom>
          <a:solidFill>
            <a:srgbClr val="F5F9FC"/>
          </a:solidFill>
          <a:ln w="12700">
            <a:solidFill>
              <a:srgbClr val="F5F9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1732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B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0" y="192024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617720" y="26700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0" y="37307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章节过渡页，可用于切换到新的部分。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9184" y="448056"/>
            <a:ext cx="432511" cy="6409944"/>
          </a:xfrm>
          <a:prstGeom prst="rect">
            <a:avLst/>
          </a:prstGeom>
          <a:solidFill>
            <a:srgbClr val="E8F2F8">
              <a:alpha val="65000"/>
            </a:srgbClr>
          </a:solidFill>
          <a:ln w="12700">
            <a:solidFill>
              <a:srgbClr val="E8F2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05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Examination System Defense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这页回答“做了什么、给谁用、解决什么问题”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195560" y="74980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68712" y="80924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3232" y="1664208"/>
            <a:ext cx="4800600" cy="4187952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1883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21284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基于国密算法与人脸认证的考试系统，面向学校与教育机构，覆盖实名认证、组卷、在线考试、阅卷统计与安全审计。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767328"/>
            <a:ext cx="4069080" cy="1609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高校课程考试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校内资格认证考试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需要身份验证的线上考试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多角色协同的考试管理场景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182880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62472" y="199339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B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44184" y="239572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核心角色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18120" y="182880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82712" y="199339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64424" y="239572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微服务模块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738360" y="182880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3B54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02952" y="199339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B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884664" y="239572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安全主线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97880" y="3246120"/>
            <a:ext cx="539496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520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一句话价值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3895344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通过“国密算法保障数据安全 + 人脸认证确保身份可信 + 微服务支撑业务扩展”，提升线上考试的安全性、公平性和可管理性。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项目答辩模板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9184" y="448056"/>
            <a:ext cx="432511" cy="6409944"/>
          </a:xfrm>
          <a:prstGeom prst="rect">
            <a:avLst/>
          </a:prstGeom>
          <a:solidFill>
            <a:srgbClr val="E8F2F8">
              <a:alpha val="65000"/>
            </a:srgbClr>
          </a:solidFill>
          <a:ln w="12700">
            <a:solidFill>
              <a:srgbClr val="E8F2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05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Examination System Defense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项目背景与痛点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把需求说清楚，比堆功能更重要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424160" y="74980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97312" y="80924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1847088"/>
            <a:ext cx="324612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95555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2029968"/>
            <a:ext cx="438912" cy="438912"/>
          </a:xfrm>
          <a:prstGeom prst="ellipse">
            <a:avLst/>
          </a:prstGeom>
          <a:solidFill>
            <a:srgbClr val="D95555"/>
          </a:solidFill>
          <a:ln w="12700">
            <a:solidFill>
              <a:srgbClr val="D9555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12140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72768" y="20482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身份真实性难验证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670048"/>
            <a:ext cx="2816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传统账号密码方式存在替考、冒名登录等风险，缺少可信身份确认手段。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224528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可替换为政策背景、行业案例或学校实际需求。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1847088"/>
            <a:ext cx="324612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029968"/>
            <a:ext cx="438912" cy="43891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12140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67528" y="20482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考试数据安全要求高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2670048"/>
            <a:ext cx="2816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试题、成绩、密钥等数据涉及保密性、完整性与不可抵赖性，普通方案不足。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8888" y="4224528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F80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可替换为政策背景、行业案例或学校实际需求。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12480" y="1847088"/>
            <a:ext cx="324612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33A06F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95360" y="2029968"/>
            <a:ext cx="438912" cy="438912"/>
          </a:xfrm>
          <a:prstGeom prst="ellipse">
            <a:avLst/>
          </a:prstGeom>
          <a:solidFill>
            <a:srgbClr val="33A06F"/>
          </a:solidFill>
          <a:ln w="12700">
            <a:solidFill>
              <a:srgbClr val="33A06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212140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62288" y="20482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系统扩展与协同复杂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13648" y="2670048"/>
            <a:ext cx="2816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学生、教师、管理员、CA 机构等角色共存，单体架构难以持续扩展。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13648" y="4224528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A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可替换为政策背景、行业案例或学校实际需求。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2960" y="5120640"/>
            <a:ext cx="10424160" cy="749808"/>
          </a:xfrm>
          <a:prstGeom prst="roundRect">
            <a:avLst>
              <a:gd name="adj" fmla="val 7317"/>
            </a:avLst>
          </a:prstGeom>
          <a:solidFill>
            <a:srgbClr val="FCFE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24128" y="5385816"/>
            <a:ext cx="10012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结论：项目建设的核心不是“把考试搬到线上”，而是构建一套身份可信、数据安全、流程可控、结果可追溯的考试平台。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项目答辩模板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9184" y="448056"/>
            <a:ext cx="432511" cy="6409944"/>
          </a:xfrm>
          <a:prstGeom prst="rect">
            <a:avLst/>
          </a:prstGeom>
          <a:solidFill>
            <a:srgbClr val="E8F2F8">
              <a:alpha val="65000"/>
            </a:srgbClr>
          </a:solidFill>
          <a:ln w="12700">
            <a:solidFill>
              <a:srgbClr val="E8F2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05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Examination System Defense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推荐直接放一张总架构图，这页是答辩时最重要的技术页之一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195560" y="74980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68712" y="80924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664208"/>
            <a:ext cx="105613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19019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212848"/>
            <a:ext cx="1234440" cy="713232"/>
          </a:xfrm>
          <a:prstGeom prst="roundRect">
            <a:avLst>
              <a:gd name="adj" fmla="val 7692"/>
            </a:avLst>
          </a:prstGeom>
          <a:solidFill>
            <a:srgbClr val="F4FCFB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46888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门户首页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95728" y="2212848"/>
            <a:ext cx="1234440" cy="713232"/>
          </a:xfrm>
          <a:prstGeom prst="roundRect">
            <a:avLst>
              <a:gd name="adj" fmla="val 7692"/>
            </a:avLst>
          </a:prstGeom>
          <a:solidFill>
            <a:srgbClr val="F4FCFB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87168" y="246888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77056" y="2212848"/>
            <a:ext cx="1234440" cy="713232"/>
          </a:xfrm>
          <a:prstGeom prst="roundRect">
            <a:avLst>
              <a:gd name="adj" fmla="val 7692"/>
            </a:avLst>
          </a:prstGeom>
          <a:solidFill>
            <a:srgbClr val="F4FCFB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68496" y="246888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教师端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58384" y="2212848"/>
            <a:ext cx="1234440" cy="713232"/>
          </a:xfrm>
          <a:prstGeom prst="roundRect">
            <a:avLst>
              <a:gd name="adj" fmla="val 7692"/>
            </a:avLst>
          </a:prstGeom>
          <a:solidFill>
            <a:srgbClr val="F4FCFB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49824" y="246888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/ CA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39712" y="2212848"/>
            <a:ext cx="1234440" cy="713232"/>
          </a:xfrm>
          <a:prstGeom prst="roundRect">
            <a:avLst>
              <a:gd name="adj" fmla="val 7692"/>
            </a:avLst>
          </a:prstGeom>
          <a:solidFill>
            <a:srgbClr val="F4FCFB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31152" y="246888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可视化大屏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66760" y="2441448"/>
            <a:ext cx="420624" cy="256032"/>
          </a:xfrm>
          <a:prstGeom prst="chevron">
            <a:avLst/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87968" y="2212848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FFF9ED"/>
          </a:solidFill>
          <a:ln w="12700">
            <a:solidFill>
              <a:srgbClr val="F3B54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52560" y="246888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3101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业务微服务层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361188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5840" y="3813048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用户服务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361188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37560" y="3813048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考试服务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361188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0" y="3813048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文件服务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09560" y="361188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01000" y="3813048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统计服务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4400" y="4471416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05840" y="4672584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人脸认证服务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46120" y="4471416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337560" y="4672584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邮件服务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4471416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69280" y="4672584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 服务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05840" y="54498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14400" y="5687568"/>
            <a:ext cx="148132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87552" y="5870448"/>
            <a:ext cx="13350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0" y="5687568"/>
            <a:ext cx="148132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5555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816352" y="5870448"/>
            <a:ext cx="13350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5687568"/>
            <a:ext cx="148132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3B54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645152" y="5870448"/>
            <a:ext cx="13350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ArcFace SDK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83680" y="5687568"/>
            <a:ext cx="148132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3A06F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656832" y="5870448"/>
            <a:ext cx="13350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国密算法组件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641080" y="5687568"/>
            <a:ext cx="148132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714232" y="5870448"/>
            <a:ext cx="13350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部署环境 / 日志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6455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项目答辩模板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9184" y="448056"/>
            <a:ext cx="432511" cy="6409944"/>
          </a:xfrm>
          <a:prstGeom prst="rect">
            <a:avLst/>
          </a:prstGeom>
          <a:solidFill>
            <a:srgbClr val="E8F2F8">
              <a:alpha val="65000"/>
            </a:srgbClr>
          </a:solidFill>
          <a:ln w="12700">
            <a:solidFill>
              <a:srgbClr val="E8F2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05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Examination System Defense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建议按“前端交互 -&gt; 网关转发 -&gt; 服务处理 -&gt; 存储与认证”讲解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332720" y="74980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05872" y="80924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41248" y="1965960"/>
            <a:ext cx="2212848" cy="2359152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87552" y="2112264"/>
            <a:ext cx="384048" cy="384048"/>
          </a:xfrm>
          <a:prstGeom prst="ellipse">
            <a:avLst/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1808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81328" y="211226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用户请求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" y="2587752"/>
            <a:ext cx="19202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学生/教师/管理员从 Web 前端访问系统页面并发起业务请求。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45536" y="2999232"/>
            <a:ext cx="219456" cy="256032"/>
          </a:xfrm>
          <a:prstGeom prst="chevron">
            <a:avLst/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0168" y="1965960"/>
            <a:ext cx="2212848" cy="2359152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F3B54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76472" y="2112264"/>
            <a:ext cx="384048" cy="384048"/>
          </a:xfrm>
          <a:prstGeom prst="ellipse">
            <a:avLst/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21808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70248" y="211226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网关路由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76472" y="2587752"/>
            <a:ext cx="19202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统一鉴权、转发与服务聚合，屏蔽后端服务拆分细节。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34456" y="2999232"/>
            <a:ext cx="219456" cy="256032"/>
          </a:xfrm>
          <a:prstGeom prst="chevron">
            <a:avLst/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9088" y="1965960"/>
            <a:ext cx="2212848" cy="2359152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65392" y="2112264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21808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59168" y="211226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业务处理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65392" y="2587752"/>
            <a:ext cx="19202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考试、用户、统计、文件、人脸等服务独立处理并协同。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723376" y="2999232"/>
            <a:ext cx="219456" cy="256032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08008" y="1965960"/>
            <a:ext cx="2212848" cy="2359152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33A06F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54312" y="2112264"/>
            <a:ext cx="384048" cy="384048"/>
          </a:xfrm>
          <a:prstGeom prst="ellipse">
            <a:avLst/>
          </a:prstGeom>
          <a:solidFill>
            <a:srgbClr val="33A06F"/>
          </a:solidFill>
          <a:ln w="12700">
            <a:solidFill>
              <a:srgbClr val="33A06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54312" y="21808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848088" y="211226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安全保障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54312" y="2587752"/>
            <a:ext cx="19202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通过国密算法与人脸认证形成双重安全能力。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4400" y="4709160"/>
            <a:ext cx="10195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115568" y="49834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可替换内容建议：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42032" y="4965192"/>
            <a:ext cx="8019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把当前项目中的真实技术点写进去，例如 Vue2、ElementUI、Spring Cloud Alibaba、MySQL、Redis、SM2/SM3/SM4、ArcFace。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55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项目答辩模板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9184" y="448056"/>
            <a:ext cx="432511" cy="6409944"/>
          </a:xfrm>
          <a:prstGeom prst="rect">
            <a:avLst/>
          </a:prstGeom>
          <a:solidFill>
            <a:srgbClr val="E8F2F8">
              <a:alpha val="65000"/>
            </a:srgbClr>
          </a:solidFill>
          <a:ln w="12700">
            <a:solidFill>
              <a:srgbClr val="E8F2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05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Examination System Defense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多角色业务模块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这页适合概览全部端口和核心模块，后面再分角色拆开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195560" y="74980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68712" y="80924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1783080"/>
            <a:ext cx="464515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1783080"/>
            <a:ext cx="146304" cy="1536192"/>
          </a:xfrm>
          <a:prstGeom prst="rect">
            <a:avLst/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1947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97864" y="235000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实名注册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53512" y="235000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选课/课程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97864" y="269748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在线考试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53512" y="269748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成绩查询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783080"/>
            <a:ext cx="464515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783080"/>
            <a:ext cx="146304" cy="15361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1947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92824" y="235000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课程管理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48472" y="235000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题库管理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92824" y="269748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组卷发卷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48472" y="269748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阅卷统计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" y="3749040"/>
            <a:ext cx="464515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3B54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3749040"/>
            <a:ext cx="146304" cy="1536192"/>
          </a:xfrm>
          <a:prstGeom prst="rect">
            <a:avLst/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61288" y="3913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97864" y="431596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用户维护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53512" y="431596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公告新闻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97864" y="466344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系统日志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53512" y="466344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密钥管理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3749040"/>
            <a:ext cx="464515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33A06F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63640" y="3749040"/>
            <a:ext cx="146304" cy="1536192"/>
          </a:xfrm>
          <a:prstGeom prst="rect">
            <a:avLst/>
          </a:prstGeom>
          <a:solidFill>
            <a:srgbClr val="33A06F"/>
          </a:solidFill>
          <a:ln w="12700">
            <a:solidFill>
              <a:srgbClr val="33A06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56248" y="3913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 机构端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92824" y="431596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人员审核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48472" y="431596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机构信息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92824" y="466344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人脸认证复核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48472" y="466344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国密体系支撑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68680" y="5715000"/>
            <a:ext cx="10149840" cy="411480"/>
          </a:xfrm>
          <a:prstGeom prst="roundRect">
            <a:avLst>
              <a:gd name="adj" fmla="val 13333"/>
            </a:avLst>
          </a:prstGeom>
          <a:solidFill>
            <a:srgbClr val="FCFE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97280" y="5852160"/>
            <a:ext cx="9738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可在每个卡片右侧插入系统页面截图，形成“功能点 + 页面”双证据展示。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" y="6455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项目答辩模板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9184" y="448056"/>
            <a:ext cx="432511" cy="6409944"/>
          </a:xfrm>
          <a:prstGeom prst="rect">
            <a:avLst/>
          </a:prstGeom>
          <a:solidFill>
            <a:srgbClr val="E8F2F8">
              <a:alpha val="65000"/>
            </a:srgbClr>
          </a:solidFill>
          <a:ln w="12700">
            <a:solidFill>
              <a:srgbClr val="E8F2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05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Examination System Defense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核心功能页模板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此页可复制两到三次，分别替换成学生端、教师端、管理员端功能展示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195560" y="74980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68712" y="80924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1783080"/>
            <a:ext cx="557784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3749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页面截图占位区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407822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建议替换为课程管理、试卷管理、考试列表等真实截图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42416" y="2029968"/>
            <a:ext cx="5138928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1783080"/>
            <a:ext cx="4160520" cy="434340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86016" y="19933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功能讲解模板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1152" y="2450592"/>
            <a:ext cx="352044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1：用一句话解释业务目标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2：补充用户操作流程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3：强调系统约束或安全设计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4：说明带来的管理价值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86016" y="4736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答辩建议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86016" y="504748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不要泛泛而谈，最好按“进入页面 -&gt; 执行动作 -&gt; 产生结果”的顺序说明。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项目答辩模板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9184" y="448056"/>
            <a:ext cx="432511" cy="6409944"/>
          </a:xfrm>
          <a:prstGeom prst="rect">
            <a:avLst/>
          </a:prstGeom>
          <a:solidFill>
            <a:srgbClr val="E8F2F8">
              <a:alpha val="65000"/>
            </a:srgbClr>
          </a:solidFill>
          <a:ln w="12700">
            <a:solidFill>
              <a:srgbClr val="E8F2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05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Examination System Defense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人脸认证流程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建议把这一页做成项目亮点页，重点讲实名认证与考前验证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378440" y="74980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51592" y="80924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2057400"/>
            <a:ext cx="1828800" cy="25786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32688" y="2203704"/>
            <a:ext cx="384048" cy="384048"/>
          </a:xfrm>
          <a:prstGeom prst="ellipse">
            <a:avLst/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27228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26464" y="22037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学生实名注册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2679192"/>
            <a:ext cx="1536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采集身份信息与人脸照片，提交实名认证申请。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88336" y="3182112"/>
            <a:ext cx="146304" cy="256032"/>
          </a:xfrm>
          <a:prstGeom prst="chevron">
            <a:avLst/>
          </a:prstGeom>
          <a:solidFill>
            <a:srgbClr val="D4E0EA"/>
          </a:solidFill>
          <a:ln w="12700">
            <a:solidFill>
              <a:srgbClr val="D4E0E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26664" y="2057400"/>
            <a:ext cx="1828800" cy="25786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2203704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227228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66744" y="22037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人脸特征提取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72968" y="2679192"/>
            <a:ext cx="1536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ArcFace 进行检测、提取特征并保存照片路径。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28616" y="3182112"/>
            <a:ext cx="146304" cy="256032"/>
          </a:xfrm>
          <a:prstGeom prst="chevron">
            <a:avLst/>
          </a:prstGeom>
          <a:solidFill>
            <a:srgbClr val="D4E0EA"/>
          </a:solidFill>
          <a:ln w="12700">
            <a:solidFill>
              <a:srgbClr val="D4E0E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66944" y="2057400"/>
            <a:ext cx="1828800" cy="25786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33A06F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13248" y="2203704"/>
            <a:ext cx="384048" cy="384048"/>
          </a:xfrm>
          <a:prstGeom prst="ellipse">
            <a:avLst/>
          </a:prstGeom>
          <a:solidFill>
            <a:srgbClr val="33A06F"/>
          </a:solidFill>
          <a:ln w="12700">
            <a:solidFill>
              <a:srgbClr val="33A06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13248" y="227228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07024" y="22037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人脸库入库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13248" y="2679192"/>
            <a:ext cx="1536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faceId、faceFeature、facePath 等数据保存到系统。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68896" y="3182112"/>
            <a:ext cx="146304" cy="256032"/>
          </a:xfrm>
          <a:prstGeom prst="chevron">
            <a:avLst/>
          </a:prstGeom>
          <a:solidFill>
            <a:srgbClr val="D4E0EA"/>
          </a:solidFill>
          <a:ln w="12700">
            <a:solidFill>
              <a:srgbClr val="D4E0E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07224" y="2057400"/>
            <a:ext cx="1828800" cy="25786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3B54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53528" y="2203704"/>
            <a:ext cx="384048" cy="384048"/>
          </a:xfrm>
          <a:prstGeom prst="ellipse">
            <a:avLst/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227228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47304" y="22037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考前再次识别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53528" y="2679192"/>
            <a:ext cx="1536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考试前拍照比对，返回相似度与匹配结果。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409176" y="3182112"/>
            <a:ext cx="146304" cy="256032"/>
          </a:xfrm>
          <a:prstGeom prst="chevron">
            <a:avLst/>
          </a:prstGeom>
          <a:solidFill>
            <a:srgbClr val="D4E0EA"/>
          </a:solidFill>
          <a:ln w="12700">
            <a:solidFill>
              <a:srgbClr val="D4E0EA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47504" y="2057400"/>
            <a:ext cx="1828800" cy="25786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5555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893808" y="2203704"/>
            <a:ext cx="384048" cy="384048"/>
          </a:xfrm>
          <a:prstGeom prst="ellipse">
            <a:avLst/>
          </a:prstGeom>
          <a:solidFill>
            <a:srgbClr val="D95555"/>
          </a:solidFill>
          <a:ln w="12700">
            <a:solidFill>
              <a:srgbClr val="D9555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93808" y="227228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387584" y="22037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93808" y="2679192"/>
            <a:ext cx="1536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教师或 CA 机构对异常情况进行代理确认与审核。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68680" y="5074920"/>
            <a:ext cx="10195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115568" y="5385816"/>
            <a:ext cx="9646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展示建议：左侧放流程图，右下角可补充接口名 `faceAdd`、`faceSearch`，再配一张学生端认证页截图。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455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项目答辩模板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33A06F"/>
          </a:solidFill>
          <a:ln w="12700">
            <a:solidFill>
              <a:srgbClr val="33A06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9184" y="448056"/>
            <a:ext cx="432511" cy="6409944"/>
          </a:xfrm>
          <a:prstGeom prst="rect">
            <a:avLst/>
          </a:prstGeom>
          <a:solidFill>
            <a:srgbClr val="E8F2F8">
              <a:alpha val="65000"/>
            </a:srgbClr>
          </a:solidFill>
          <a:ln w="12700">
            <a:solidFill>
              <a:srgbClr val="E8F2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05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Examination System Defense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国密安全机制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安全页不要空泛，建议按“对象、手段、作用”拆开讲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561320" y="74980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33A06F"/>
          </a:solidFill>
          <a:ln w="12700">
            <a:solidFill>
              <a:srgbClr val="33A06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34472" y="80924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1847088"/>
            <a:ext cx="10149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8992" y="2048256"/>
            <a:ext cx="1280160" cy="493776"/>
          </a:xfrm>
          <a:prstGeom prst="roundRect">
            <a:avLst>
              <a:gd name="adj" fmla="val 11111"/>
            </a:avLst>
          </a:prstGeom>
          <a:solidFill>
            <a:srgbClr val="EFFAF4"/>
          </a:solidFill>
          <a:ln w="12700">
            <a:solidFill>
              <a:srgbClr val="33A06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2219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A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数据机密性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2112264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对敏感考试数据进行加密存储与传输保护。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41080" y="2112264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A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SM4 / 加密传输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" y="3108960"/>
            <a:ext cx="10149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8992" y="3310128"/>
            <a:ext cx="1280160" cy="493776"/>
          </a:xfrm>
          <a:prstGeom prst="roundRect">
            <a:avLst>
              <a:gd name="adj" fmla="val 11111"/>
            </a:avLst>
          </a:prstGeom>
          <a:solidFill>
            <a:srgbClr val="EFFAF4"/>
          </a:solidFill>
          <a:ln w="12700">
            <a:solidFill>
              <a:srgbClr val="33A06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483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A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完整性校验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3374136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通过摘要和签名机制防止试题、成绩被篡改。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41080" y="3374136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A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SM3 / SM2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" y="4370832"/>
            <a:ext cx="10149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78992" y="4572000"/>
            <a:ext cx="1280160" cy="493776"/>
          </a:xfrm>
          <a:prstGeom prst="roundRect">
            <a:avLst>
              <a:gd name="adj" fmla="val 11111"/>
            </a:avLst>
          </a:prstGeom>
          <a:solidFill>
            <a:srgbClr val="EFFAF4"/>
          </a:solidFill>
          <a:ln w="12700">
            <a:solidFill>
              <a:srgbClr val="33A06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74573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A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身份可信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97480" y="4636008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结合人脸认证与角色权限控制，确保操作主体可信。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41080" y="463600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A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认证 + 授权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8680" y="5742432"/>
            <a:ext cx="10149840" cy="384048"/>
          </a:xfrm>
          <a:prstGeom prst="roundRect">
            <a:avLst>
              <a:gd name="adj" fmla="val 14286"/>
            </a:avLst>
          </a:prstGeom>
          <a:solidFill>
            <a:srgbClr val="FCFE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60704" y="5870448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可替换为你项目中的真实密钥体系、公钥展示、验签流程截图。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项目答辩模板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9184" y="448056"/>
            <a:ext cx="432511" cy="6409944"/>
          </a:xfrm>
          <a:prstGeom prst="rect">
            <a:avLst/>
          </a:prstGeom>
          <a:solidFill>
            <a:srgbClr val="E8F2F8">
              <a:alpha val="65000"/>
            </a:srgbClr>
          </a:solidFill>
          <a:ln w="12700">
            <a:solidFill>
              <a:srgbClr val="E8F2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05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Examination System Defense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可视化与统计分析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大屏和统计页适合突出“系统不仅能用，还能辅助管理决策”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332720" y="74980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05872" y="80924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41248" y="1755648"/>
            <a:ext cx="649224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1993392"/>
            <a:ext cx="6071616" cy="3822192"/>
          </a:xfrm>
          <a:prstGeom prst="rect">
            <a:avLst/>
          </a:prstGeom>
          <a:solidFill>
            <a:srgbClr val="F8FBFE"/>
          </a:solidFill>
          <a:ln w="12700">
            <a:solidFill>
              <a:srgbClr val="D4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6758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 / 图表占位区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35240" y="1755648"/>
            <a:ext cx="333756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35240" y="3063240"/>
            <a:ext cx="333756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F3B54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35240" y="4370832"/>
            <a:ext cx="333756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33A06F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82128" y="195681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统计维度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82128" y="228600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考试数量、参考人数、通过率等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882128" y="326440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统计维度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82128" y="359359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成绩分布、题目分析、课程维度对比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82128" y="457200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统计维度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82128" y="490118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人脸认证情况、异常行为、日志审计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项目答辩模板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9184" y="448056"/>
            <a:ext cx="432511" cy="6409944"/>
          </a:xfrm>
          <a:prstGeom prst="rect">
            <a:avLst/>
          </a:prstGeom>
          <a:solidFill>
            <a:srgbClr val="E8F2F8">
              <a:alpha val="65000"/>
            </a:srgbClr>
          </a:solidFill>
          <a:ln w="12700">
            <a:solidFill>
              <a:srgbClr val="E8F2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05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Examination System Defense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创新点与特色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控制在 3 到 4 条最有效，不要写成泛泛口号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287000" y="74980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60152" y="80924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96112" y="1847088"/>
            <a:ext cx="448056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20574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B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19072" y="20482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双重安全主线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450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国密算法保障数据安全，人脸认证保障身份可信。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847088"/>
            <a:ext cx="448056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6208" y="20574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20482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多角色协同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6208" y="2450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学生、教师、管理员、CA 机构围绕考试全流程协同。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" y="3694176"/>
            <a:ext cx="448056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33A06F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390448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A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19072" y="38953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微服务可扩展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297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服务拆分清晰，便于后续接入更多业务能力。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3694176"/>
            <a:ext cx="448056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95555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36208" y="390448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38953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可视化辅助管理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36208" y="4297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借助统计分析与大屏展示提升管理效率。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项目答辩模板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17B7A3"/>
          </a:solidFill>
          <a:ln w="12700">
            <a:solidFill>
              <a:srgbClr val="17B7A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9184" y="448056"/>
            <a:ext cx="432511" cy="6409944"/>
          </a:xfrm>
          <a:prstGeom prst="rect">
            <a:avLst/>
          </a:prstGeom>
          <a:solidFill>
            <a:srgbClr val="E8F2F8">
              <a:alpha val="65000"/>
            </a:srgbClr>
          </a:solidFill>
          <a:ln w="12700">
            <a:solidFill>
              <a:srgbClr val="E8F2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05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Examination System Defense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部署与运行效果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适合放本机部署截图、端口说明和功能验证结果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195560" y="74980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F3B54A"/>
          </a:solidFill>
          <a:ln w="12700">
            <a:solidFill>
              <a:srgbClr val="F3B5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68712" y="80924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41248" y="1810512"/>
            <a:ext cx="3840480" cy="41605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78992" y="20482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部署环境模板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432304"/>
            <a:ext cx="3310128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操作系统：Windows / Linux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前端：Vue 项目启动端口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网关：统一入口端口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后端：各微服务独立端口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数据库：MySQL + Redis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810512"/>
            <a:ext cx="6016752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17B7A3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83480" y="3977640"/>
            <a:ext cx="6016752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F3B54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66944" y="20665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功能验证区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85232" y="24688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可填写：教师端登录成功、学生端登录成功、人脸认证接口可用、首页统计正常加载等。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66944" y="42428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12280" y="4242816"/>
            <a:ext cx="3429000" cy="1316736"/>
          </a:xfrm>
          <a:prstGeom prst="rect">
            <a:avLst/>
          </a:prstGeom>
          <a:solidFill>
            <a:srgbClr val="F8FBFE"/>
          </a:solidFill>
          <a:ln w="12700">
            <a:solidFill>
              <a:srgbClr val="D4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55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项目答辩模板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64008"/>
          </a:xfrm>
          <a:prstGeom prst="rect">
            <a:avLst/>
          </a:prstGeom>
          <a:solidFill>
            <a:srgbClr val="33A06F"/>
          </a:solidFill>
          <a:ln w="12700">
            <a:solidFill>
              <a:srgbClr val="33A06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9184" y="448056"/>
            <a:ext cx="432511" cy="6409944"/>
          </a:xfrm>
          <a:prstGeom prst="rect">
            <a:avLst/>
          </a:prstGeom>
          <a:solidFill>
            <a:srgbClr val="E8F2F8">
              <a:alpha val="65000"/>
            </a:srgbClr>
          </a:solidFill>
          <a:ln w="12700">
            <a:solidFill>
              <a:srgbClr val="E8F2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05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Examination System Defense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应用价值与前景展望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建议从“当前价值 + 后续可扩展方向”两个层面收束全篇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241280" y="74980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33A06F"/>
          </a:solidFill>
          <a:ln w="12700">
            <a:solidFill>
              <a:srgbClr val="33A06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14432" y="80924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41248" y="1792224"/>
            <a:ext cx="47548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33872" y="1792224"/>
            <a:ext cx="52120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4E0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9D9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78992" y="2029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当前价值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42416" y="2395728"/>
            <a:ext cx="39776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提升线上考试身份认证可信度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增强试题与成绩数据安全性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提高教师和管理者的工作效率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支持多角色协同和系统持续扩展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9904" y="20299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前景展望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53328" y="2395728"/>
            <a:ext cx="4187952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引入活体检测与异常行为识别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扩展移动端或小程序端能力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接入更多学校/考试场景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完善日志审计和安全追踪体系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55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项目答辩模板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13232"/>
            <a:ext cx="10607040" cy="54315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7B7A3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18288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B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749040" y="267004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834640" y="340156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这一页可替换为“答辩结束 / 敬请指正 / Q&amp;A”。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08960" y="4983480"/>
            <a:ext cx="5897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B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基于国密算法与人脸认证的考试系统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基于国密算法与人脸认证的考试系统答辩模板</dc:title>
  <dc:subject>Examination System Template</dc:subject>
  <dc:creator>OpenAI Codex</dc:creator>
  <cp:lastModifiedBy>OpenAI Codex</cp:lastModifiedBy>
  <cp:revision>1</cp:revision>
  <dcterms:created xsi:type="dcterms:W3CDTF">2026-04-08T02:09:33Z</dcterms:created>
  <dcterms:modified xsi:type="dcterms:W3CDTF">2026-04-08T02:09:33Z</dcterms:modified>
</cp:coreProperties>
</file>